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87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80695" y="1075581"/>
            <a:ext cx="518246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 vs Nominal Approaches to</a:t>
            </a:r>
            <a:endParaRPr lang="en-US" sz="2700" dirty="0"/>
          </a:p>
          <a:p>
            <a:pPr marL="0" indent="0" algn="ctr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Classification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49996" y="2708618"/>
            <a:ext cx="46440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Comparative Study on Amazon Electronics Reviews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00500" y="2927003"/>
            <a:ext cx="114300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93610" y="3412778"/>
            <a:ext cx="35566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Atharv Chaudhary</a:t>
            </a: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 Nguyen</a:t>
            </a: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Zijie Liu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05876" y="3881289"/>
            <a:ext cx="21322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Artificial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336328"/>
            <a:ext cx="4442520" cy="950565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36328"/>
            <a:ext cx="0" cy="950565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1500" y="1488728"/>
            <a:ext cx="4181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705868"/>
            <a:ext cx="418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ratings (1-5) have an inherent </a:t>
            </a: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structure</a:t>
            </a: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1-star review is "worse" than a 2-star, which is worse than a 3-star.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439293"/>
            <a:ext cx="4442520" cy="950565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439293"/>
            <a:ext cx="0" cy="95056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71500" y="2591693"/>
            <a:ext cx="4181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2808833"/>
            <a:ext cx="418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classifiers treat ratings as </a:t>
            </a: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categories</a:t>
            </a: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ignoring the meaningful distance between classes.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3542258"/>
            <a:ext cx="4442520" cy="950565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542258"/>
            <a:ext cx="0" cy="95056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71500" y="3694658"/>
            <a:ext cx="4181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" y="3911798"/>
            <a:ext cx="418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1★ when true is 5★ should be penalized more than predicting 4★ when true is 5★.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976994" y="1727150"/>
            <a:ext cx="19373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SEVERITY COMPARISON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612160" y="2140446"/>
            <a:ext cx="2667000" cy="847427"/>
          </a:xfrm>
          <a:prstGeom prst="roundRect">
            <a:avLst>
              <a:gd name="adj" fmla="val 899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79800" y="2273796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VIEW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79800" y="2496592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 → 5★  =  4★ → 5★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779800" y="2707928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just "wrong"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612160" y="3254573"/>
            <a:ext cx="2667000" cy="847427"/>
          </a:xfrm>
          <a:prstGeom prst="roundRect">
            <a:avLst>
              <a:gd name="adj" fmla="val 8992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79800" y="3387923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VIEW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779800" y="3610719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 → 5★  ≫  4★ → 5★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779800" y="3822055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4-class error vs 1-class error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0" y="0"/>
            <a:ext cx="1905000" cy="19050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1002" y="536228"/>
            <a:ext cx="18418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53325" y="1065758"/>
            <a:ext cx="62373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30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performance gains from treating star ratings as ordinal justify the increased model complexity?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91000" y="2399258"/>
            <a:ext cx="762000" cy="190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51708"/>
            <a:ext cx="2336750" cy="1655415"/>
          </a:xfrm>
          <a:prstGeom prst="roundRect">
            <a:avLst>
              <a:gd name="adj" fmla="val 460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2658" y="3151733"/>
            <a:ext cx="197543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2658" y="3807023"/>
            <a:ext cx="197543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ordinal methods compare to nominal classifiers on standard metrics?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03550" y="3051721"/>
            <a:ext cx="2336750" cy="1455390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84208" y="3251746"/>
            <a:ext cx="197543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84208" y="3907036"/>
            <a:ext cx="19754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ordinal methods reduce severe misclassifications?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45101" y="3051721"/>
            <a:ext cx="2336750" cy="1455390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5759" y="3251746"/>
            <a:ext cx="197543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25759" y="3907036"/>
            <a:ext cx="19754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practical trade-offs for real applications?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783431"/>
            <a:ext cx="3225105" cy="927497"/>
          </a:xfrm>
          <a:prstGeom prst="roundRect">
            <a:avLst>
              <a:gd name="adj" fmla="val 821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935831"/>
            <a:ext cx="29787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1120527"/>
            <a:ext cx="29787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Electronics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3400" y="1398538"/>
            <a:ext cx="29787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McAuley Lab, UCSD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825228"/>
            <a:ext cx="3225105" cy="1060847"/>
          </a:xfrm>
          <a:prstGeom prst="roundRect">
            <a:avLst>
              <a:gd name="adj" fmla="val 718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977628"/>
            <a:ext cx="29787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2162324"/>
            <a:ext cx="297871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49,960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3400" y="2573685"/>
            <a:ext cx="29787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reviews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000375"/>
            <a:ext cx="3225105" cy="927497"/>
          </a:xfrm>
          <a:prstGeom prst="roundRect">
            <a:avLst>
              <a:gd name="adj" fmla="val 821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3152775"/>
            <a:ext cx="29787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337471"/>
            <a:ext cx="29787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20%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3400" y="3615482"/>
            <a:ext cx="29787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39,968 train · 9,992 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4042172"/>
            <a:ext cx="3225105" cy="927497"/>
          </a:xfrm>
          <a:prstGeom prst="roundRect">
            <a:avLst>
              <a:gd name="adj" fmla="val 821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4042172"/>
            <a:ext cx="0" cy="92749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71500" y="4194572"/>
            <a:ext cx="2939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4379268"/>
            <a:ext cx="29398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 : 1 ratio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71500" y="4657279"/>
            <a:ext cx="2939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5-star vs 2-star reviews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10905" y="1376363"/>
            <a:ext cx="4852095" cy="3000226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56695" y="1566863"/>
            <a:ext cx="45605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91880" y="2105025"/>
            <a:ext cx="4857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91955" y="2058293"/>
            <a:ext cx="3099495" cy="26670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91955" y="2058293"/>
            <a:ext cx="3099495" cy="2667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05750" y="211157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30,897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1880" y="2466975"/>
            <a:ext cx="4857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4★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691955" y="2420243"/>
            <a:ext cx="3099495" cy="26670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91955" y="2420243"/>
            <a:ext cx="867817" cy="2667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05750" y="247352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8,652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91880" y="2828925"/>
            <a:ext cx="4857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3★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691955" y="2782193"/>
            <a:ext cx="3099495" cy="26670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91955" y="2782193"/>
            <a:ext cx="371921" cy="266700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05750" y="283547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3,578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91880" y="3190875"/>
            <a:ext cx="4857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691955" y="3144143"/>
            <a:ext cx="3099495" cy="26670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91955" y="3144143"/>
            <a:ext cx="216843" cy="2667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905750" y="319742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91880" y="3552825"/>
            <a:ext cx="4857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691955" y="3506093"/>
            <a:ext cx="3099495" cy="26670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91955" y="3506093"/>
            <a:ext cx="278904" cy="2667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05750" y="3559373"/>
            <a:ext cx="6800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2,835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56695" y="4039493"/>
            <a:ext cx="4560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classes (1-3★) represent only 17% of data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76350" y="838200"/>
            <a:ext cx="1333500" cy="599926"/>
          </a:xfrm>
          <a:prstGeom prst="roundRect">
            <a:avLst>
              <a:gd name="adj" fmla="val 1270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57325" y="95250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457325" y="1137196"/>
            <a:ext cx="971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05100" y="9780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28950" y="838200"/>
            <a:ext cx="1333500" cy="599926"/>
          </a:xfrm>
          <a:prstGeom prst="roundRect">
            <a:avLst>
              <a:gd name="adj" fmla="val 1270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09925" y="95250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09925" y="1137196"/>
            <a:ext cx="971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7700" y="9780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81550" y="838200"/>
            <a:ext cx="1333500" cy="599926"/>
          </a:xfrm>
          <a:prstGeom prst="roundRect">
            <a:avLst>
              <a:gd name="adj" fmla="val 1270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2525" y="95250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62525" y="1137196"/>
            <a:ext cx="971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0300" y="9780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4150" y="838200"/>
            <a:ext cx="1333500" cy="599926"/>
          </a:xfrm>
          <a:prstGeom prst="roundRect">
            <a:avLst>
              <a:gd name="adj" fmla="val 12702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95250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715125" y="1137196"/>
            <a:ext cx="971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1698575"/>
            <a:ext cx="4038600" cy="3146375"/>
          </a:xfrm>
          <a:prstGeom prst="roundRect">
            <a:avLst>
              <a:gd name="adj" fmla="val 36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500" y="1889075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1500" y="2342406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325" y="2466231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95325" y="2650927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5,000 features, unigrams + bigrams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71500" y="3195638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5325" y="331946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95325" y="3504158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Lowercasing, punctuation removal, stopwords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71500" y="4048869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325" y="41726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95325" y="4357390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Nominal: One-hot · Ordinal: 1,2,3,4,5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724400" y="1698575"/>
            <a:ext cx="4038600" cy="3146375"/>
          </a:xfrm>
          <a:prstGeom prst="roundRect">
            <a:avLst>
              <a:gd name="adj" fmla="val 36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0" y="1889075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4900" y="2342406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38725" y="2466231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038725" y="2650927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correct predictions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914900" y="3195638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38725" y="331946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 (MAE)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038725" y="3504158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distance between predicted and true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4914900" y="4048869"/>
            <a:ext cx="3657600" cy="605582"/>
          </a:xfrm>
          <a:prstGeom prst="roundRect">
            <a:avLst>
              <a:gd name="adj" fmla="val 1258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8725" y="41726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ERROR RATE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038725" y="4357390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off by 3+ classes (our key metric)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350020"/>
            <a:ext cx="4038600" cy="615107"/>
          </a:xfrm>
          <a:prstGeom prst="roundRect">
            <a:avLst>
              <a:gd name="adj" fmla="val 1238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950839"/>
            <a:ext cx="403860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33400" y="146432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APPROACH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167565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classes as unordered categories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117527"/>
            <a:ext cx="4038600" cy="114657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14838" y="2117527"/>
            <a:ext cx="0" cy="11465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81000" y="3259336"/>
            <a:ext cx="403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85763" y="2117527"/>
            <a:ext cx="0" cy="11465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2925" y="2269927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Multinomial Naive Bayes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2925" y="2559397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classifier using word frequencies. Fast and interpretable baseline.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925" y="2955578"/>
            <a:ext cx="4460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132582" y="2955578"/>
            <a:ext cx="3271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605707" y="2955578"/>
            <a:ext cx="1373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Independence assumption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416498"/>
            <a:ext cx="4038600" cy="98658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14838" y="3416498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81000" y="4398318"/>
            <a:ext cx="403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85763" y="3416498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2925" y="3568898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2925" y="3858369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 with softmax. One-vs-rest strategy for multiclass.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2925" y="4094559"/>
            <a:ext cx="7194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Interpretable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400621" y="4094559"/>
            <a:ext cx="689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Regularized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229148" y="4094559"/>
            <a:ext cx="7549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Ignores order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24400" y="1429941"/>
            <a:ext cx="4038600" cy="615107"/>
          </a:xfrm>
          <a:prstGeom prst="roundRect">
            <a:avLst>
              <a:gd name="adj" fmla="val 12388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24400" y="2030760"/>
            <a:ext cx="403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76800" y="1544241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APPROACH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876800" y="17555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ordered nature of ratings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24400" y="2197447"/>
            <a:ext cx="4038600" cy="98658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758238" y="2197447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24400" y="3179266"/>
            <a:ext cx="403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29163" y="2197447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86325" y="2349847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86325" y="2639318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with L2 regularization. Outputs rounded to nearest class.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6325" y="2875508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Penalizes distance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029325" y="2875508"/>
            <a:ext cx="6600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828830" y="2875508"/>
            <a:ext cx="963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Rounding needed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724400" y="3336429"/>
            <a:ext cx="4038600" cy="98658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758238" y="3336429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724400" y="4318248"/>
            <a:ext cx="403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729163" y="3336429"/>
            <a:ext cx="0" cy="98658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886325" y="3488829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Logistic Regression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86325" y="3778300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link model with learned thresholds between classes.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86325" y="4014490"/>
            <a:ext cx="6954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Probabilistic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5720507" y="4014490"/>
            <a:ext cx="7905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Proper ordinal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648004" y="4014490"/>
            <a:ext cx="7904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complex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8382000" cy="3815804"/>
          </a:xfrm>
          <a:prstGeom prst="roundRect">
            <a:avLst>
              <a:gd name="adj" fmla="val 29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1261021"/>
            <a:ext cx="8001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1500" y="99060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342007" y="990600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↑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437507" y="990600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↓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533007" y="990600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ERROR ↓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571500" y="188490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1500" y="1480096"/>
            <a:ext cx="381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1545878"/>
            <a:ext cx="7444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342007" y="1512540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63.12%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7507" y="1512540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3007" y="1512540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44.37%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1889671"/>
            <a:ext cx="8382000" cy="592336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1000" y="2477244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71500" y="2028676"/>
            <a:ext cx="381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2094458"/>
            <a:ext cx="1207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342007" y="1984921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65.95%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342007" y="2243882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37507" y="1984921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37507" y="2243882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33007" y="2061121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34.83%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81000" y="2482007"/>
            <a:ext cx="8382000" cy="592336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81000" y="3069580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71500" y="2621012"/>
            <a:ext cx="381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5800" y="2686794"/>
            <a:ext cx="10738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342007" y="265345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50.29%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37507" y="265345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0.606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33007" y="257725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18.08%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3007" y="2836218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1500" y="3169593"/>
            <a:ext cx="381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5800" y="3235375"/>
            <a:ext cx="9615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Logistic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342007" y="320203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65.86%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37507" y="320203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33007" y="3202037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34.74%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970907" y="478437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42357" y="4768304"/>
            <a:ext cx="7663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Models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122241" y="478437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293691" y="4768304"/>
            <a:ext cx="718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Models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226993" y="478437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98443" y="4768304"/>
            <a:ext cx="7901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 Category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3663" y="474911"/>
            <a:ext cx="9566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56930" y="901601"/>
            <a:ext cx="3029992" cy="1573411"/>
          </a:xfrm>
          <a:prstGeom prst="roundRect">
            <a:avLst>
              <a:gd name="adj" fmla="val 726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2120" y="1139726"/>
            <a:ext cx="209961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3522120" y="1996976"/>
            <a:ext cx="20996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Severe Errors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714500" y="2827437"/>
            <a:ext cx="2562225" cy="1302841"/>
          </a:xfrm>
          <a:prstGeom prst="roundRect">
            <a:avLst>
              <a:gd name="adj" fmla="val 7311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61108" y="2970312"/>
            <a:ext cx="1069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AVERAGE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37355" y="3313212"/>
            <a:ext cx="71636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39.6%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564943" y="3840807"/>
            <a:ext cx="861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Error Rate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426458" y="3292227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48225" y="2817912"/>
            <a:ext cx="2581275" cy="1321891"/>
          </a:xfrm>
          <a:prstGeom prst="roundRect">
            <a:avLst>
              <a:gd name="adj" fmla="val 7206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69748" y="2970312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80605" y="3313212"/>
            <a:ext cx="71636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708193" y="3840807"/>
            <a:ext cx="861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Error Rate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891890" y="4482703"/>
            <a:ext cx="53600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encoding dramatically reduces predictions that are 3+ classes away from the true rating.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263402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75792"/>
            <a:ext cx="4038600" cy="895052"/>
          </a:xfrm>
          <a:prstGeom prst="roundRect">
            <a:avLst>
              <a:gd name="adj" fmla="val 851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75792"/>
            <a:ext cx="0" cy="895052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1500" y="1728192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Ordinal encoding reduces severe errors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971973"/>
            <a:ext cx="37696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achieved 48% fewer catastrophic misclassifications than nominal methods.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585145"/>
            <a:ext cx="4038600" cy="895052"/>
          </a:xfrm>
          <a:prstGeom prst="roundRect">
            <a:avLst>
              <a:gd name="adj" fmla="val 851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585145"/>
            <a:ext cx="0" cy="8950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1500" y="2737545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Nominal methods excel at accuracy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981325"/>
            <a:ext cx="37696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achieved 65.95% accuracy, outperforming ordinal approaches on exact match.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594497"/>
            <a:ext cx="4038600" cy="895052"/>
          </a:xfrm>
          <a:prstGeom prst="roundRect">
            <a:avLst>
              <a:gd name="adj" fmla="val 851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594497"/>
            <a:ext cx="0" cy="89505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71500" y="3746897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Class imbalance limits all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3990677"/>
            <a:ext cx="37696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classes (1-3 stars) had poor F1 scores across all approaches due to 14:1 imbalance.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754707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1143298"/>
            <a:ext cx="4038600" cy="3855244"/>
          </a:xfrm>
          <a:prstGeom prst="roundRect">
            <a:avLst>
              <a:gd name="adj" fmla="val 29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1333798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ORDINAL WHEN: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1564184"/>
            <a:ext cx="365760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errors are costly (customer experience)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accuracy is acceptable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tasks use numeric ratings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4900" y="2897684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NOMINAL WHEN: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914900" y="3128070"/>
            <a:ext cx="36576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classification is critical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errors equally unacceptable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calibration needed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14900" y="4194870"/>
            <a:ext cx="3657600" cy="613172"/>
          </a:xfrm>
          <a:prstGeom prst="roundRect">
            <a:avLst>
              <a:gd name="adj" fmla="val 1242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14341" y="4328220"/>
            <a:ext cx="345871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Yes, ordinal methods justify complexity when minimizing severe errors is the priority.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0" y="2286000"/>
            <a:ext cx="2857500" cy="2857500"/>
          </a:xfrm>
          <a:prstGeom prst="roundRect">
            <a:avLst>
              <a:gd name="adj" fmla="val 100000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09712" y="834479"/>
            <a:ext cx="19244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129641" y="1539329"/>
            <a:ext cx="8847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91000" y="2312640"/>
            <a:ext cx="762000" cy="190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12358" y="2865090"/>
            <a:ext cx="8320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49,960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55280" y="3428851"/>
            <a:ext cx="9461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Analyzed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25602" y="2988766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9801" y="2865090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159188" y="3428851"/>
            <a:ext cx="9525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35823" y="2988766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6760" y="2865090"/>
            <a:ext cx="5445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170743" y="3428851"/>
            <a:ext cx="816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Reduction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8757" y="4122241"/>
            <a:ext cx="27663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Atharv Chaudhary</a:t>
            </a: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 Nguyen</a:t>
            </a: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Zijie Liu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669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Ordinal vs Nominal Approaches to Sentiment Classification</dc:title>
  <dc:subject>A Comparative Study on Amazon Electronics Reviews</dc:subject>
  <dc:creator>Atharv Chaudhary, Kien Nguyen, Zijie Liu</dc:creator>
  <cp:lastModifiedBy>Atharv Girish Chaudhary</cp:lastModifiedBy>
  <cp:revision>2</cp:revision>
  <dcterms:created xsi:type="dcterms:W3CDTF">2025-11-30T02:39:33Z</dcterms:created>
  <dcterms:modified xsi:type="dcterms:W3CDTF">2025-11-30T23:27:05Z</dcterms:modified>
</cp:coreProperties>
</file>