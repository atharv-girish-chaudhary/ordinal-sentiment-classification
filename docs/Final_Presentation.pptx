
<file path=[Content_Types].xml><?xml version="1.0" encoding="utf-8"?>
<Types xmlns="http://schemas.openxmlformats.org/package/2006/content-types">
  <Default Extension="bin" ContentType="image/unknown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1482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Ordinal vs Nominal Approaches to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Sentiment Classification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A Comparative Study on Amazon Electronics Reviews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0" y="3383280"/>
            <a:ext cx="1463040" cy="73152"/>
          </a:xfrm>
          <a:prstGeom prst="rect">
            <a:avLst/>
          </a:prstGeom>
          <a:solidFill>
            <a:srgbClr val="38B2A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Atharv Chaudhary · Kien Nguyen · Zijie Liu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</a:rPr>
              <a:t>Foundations of Artificial Intelligence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65D"/>
                </a:solidFill>
              </a:rPr>
              <a:t>Why Sentiment Classification Matters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023360" cy="82296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2AC"/>
                </a:solidFill>
              </a:rPr>
              <a:t>📊 SCALE OF 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Millions of product reviews posted daily across e-commerce platforms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4023360" cy="91440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282"/>
                </a:solidFill>
              </a:rPr>
              <a:t>💼 BUSINESS APPLICATIONS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Customer satisfaction monitoring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Product improvement insights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Brand reputation tracking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4023360" cy="1005840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E3E"/>
                </a:solidFill>
              </a:rPr>
              <a:t>⚠️ THE CRITICAL GAP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Most ML systems treat 1★→5★ errors the same as 4★→5★ errors.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</a:rPr>
              <a:t>But predicting 1-star for a 5-star review is catastrophic!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914400"/>
            <a:ext cx="4114800" cy="25603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0916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Real-World Impact Example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09160" y="13716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Customer writes a 5★ review: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"Absolutely love this product! Works perfectly."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2011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8181"/>
                </a:solidFill>
              </a:rPr>
              <a:t>❌ System predicts: 1★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09160" y="23317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Consequences: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• Unhappy customer gets apology email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• Wrong business decisions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• Damaged trust and reputation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3657600"/>
            <a:ext cx="4114800" cy="731520"/>
          </a:xfrm>
          <a:prstGeom prst="rect">
            <a:avLst/>
          </a:prstGeom>
          <a:solidFill>
            <a:srgbClr val="38B2A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709160" y="3703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🔬 Research Question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3977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Can ordinal methods reduce severe errors?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65D"/>
                </a:solidFill>
              </a:rPr>
              <a:t>Data Analysis: Class Distribution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</a:rPr>
              <a:t>Amazon Electronics Reviews Dataset (McAuley Lab, UCSD) — N = 49,953</a:t>
            </a:r>
            <a:endParaRPr lang="en-US" sz="1200" dirty="0"/>
          </a:p>
        </p:txBody>
      </p:sp>
      <p:pic>
        <p:nvPicPr>
          <p:cNvPr id="4" name="Image 0" descr="/home/claude/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530352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0" y="1097280"/>
            <a:ext cx="3017520" cy="914400"/>
          </a:xfrm>
          <a:prstGeom prst="rect">
            <a:avLst/>
          </a:prstGeom>
          <a:solidFill>
            <a:srgbClr val="FFF5F5"/>
          </a:solidFill>
          <a:ln w="25400">
            <a:solidFill>
              <a:srgbClr val="FC81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5852160" y="11430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E3E"/>
                </a:solidFill>
              </a:rPr>
              <a:t>⚠️ Severe Imbalance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852160" y="1417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53030"/>
                </a:solidFill>
              </a:rPr>
              <a:t>14.3:1 ratio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852160" y="1737360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</a:rPr>
              <a:t>5★ vs 2★ reviews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60720" y="2148840"/>
            <a:ext cx="3017520" cy="82296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5852160" y="21945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282"/>
                </a:solidFill>
              </a:rPr>
              <a:t>Dataset Statistics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52160" y="24688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Total: 49,953 reviews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80/20 Train/Test Split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60720" y="3108960"/>
            <a:ext cx="3017520" cy="1508760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5852160" y="31546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6749"/>
                </a:solidFill>
              </a:rPr>
              <a:t>Class Breakdown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52160" y="34290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5★: 30,894 (61.8%)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4★: 10,101 (20.2%)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3★: 3,963 (7.9%)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2★: 2,160 (4.3%)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1★: 2,835 (5.7%)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65D"/>
                </a:solidFill>
              </a:rPr>
              <a:t>Feature Discovery: Word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</a:rPr>
              <a:t>Identifying discriminative features for sentiment classification</a:t>
            </a:r>
            <a:endParaRPr lang="en-US" sz="1200" dirty="0"/>
          </a:p>
        </p:txBody>
      </p:sp>
      <p:pic>
        <p:nvPicPr>
          <p:cNvPr id="4" name="Image 0" descr="/home/claude/feature_importance_no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502920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1097280"/>
            <a:ext cx="3291840" cy="777240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5577840" y="11430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6749"/>
                </a:solidFill>
              </a:rPr>
              <a:t>✓ Top 5★ Words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57784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great, love, perfect, excellent, amazing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0" y="1965960"/>
            <a:ext cx="3291840" cy="777240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5577840" y="20116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3030"/>
                </a:solidFill>
              </a:rPr>
              <a:t>✗ Top 1★ Words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77840" y="2286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return, waste, broke, terrible, money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0" y="2834640"/>
            <a:ext cx="3291840" cy="822960"/>
          </a:xfrm>
          <a:prstGeom prst="rect">
            <a:avLst/>
          </a:prstGeom>
          <a:solidFill>
            <a:srgbClr val="EBF8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5577840" y="28803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282"/>
                </a:solidFill>
              </a:rPr>
              <a:t>💡 Key Discovery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577840" y="3154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Bigrams capture negation patterns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"not good" vs "good"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0" y="3749040"/>
            <a:ext cx="3291840" cy="86868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5577840" y="37947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🎯 Feature Selection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577840" y="4069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• 5,000 TF-IDF features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• Unigrams + Bigrams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• Stopwords removed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65D"/>
                </a:solidFill>
              </a:rPr>
              <a:t>Related Work That Inspired Our Study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114800" cy="365760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📖 FOUNDATIONAL WORK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"Opinion Mining and Sentiment Analysis"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Pang &amp; Lee (2008)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3840480" cy="64008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What they did: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Established ML approaches using Naive Bayes and SVM on movie reviews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514600"/>
            <a:ext cx="3840480" cy="54864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Key limitation: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Treated sentiment as binary, ignoring ordinal structure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154680"/>
            <a:ext cx="3840480" cy="502920"/>
          </a:xfrm>
          <a:prstGeom prst="rect">
            <a:avLst/>
          </a:prstGeom>
          <a:solidFill>
            <a:srgbClr val="48BB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48640" y="32004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✓ Our validation: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Logistic Regression &gt; Naive Bayes (65.95% vs 63.12%)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868680"/>
            <a:ext cx="4114800" cy="3657600"/>
          </a:xfrm>
          <a:prstGeom prst="rect">
            <a:avLst/>
          </a:prstGeom>
          <a:solidFill>
            <a:srgbClr val="38B2A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75488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📖 METHODOLOGICAL FOUNDATION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188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"Regression Models for Ordinal Data"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14630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McCullagh (1980)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1783080"/>
            <a:ext cx="3840480" cy="64008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846320" y="18288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What they did: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Introduced proportional odds model for ordinal regression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2514600"/>
            <a:ext cx="3840480" cy="54864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846320" y="25603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Key insight: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Models P(Y≤k) respecting ordinal structure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3154680"/>
            <a:ext cx="3840480" cy="502920"/>
          </a:xfrm>
          <a:prstGeom prst="rect">
            <a:avLst/>
          </a:prstGeom>
          <a:solidFill>
            <a:srgbClr val="48BB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846320" y="32004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✓ Our validation: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Ordinal methods reduce severe errors by 48%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65D"/>
                </a:solidFill>
              </a:rPr>
              <a:t>Data Processing Pipeline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1188720" cy="36576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Raw Text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63040" y="6858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</a:rPr>
              <a:t>→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91640" y="685800"/>
            <a:ext cx="1188720" cy="365760"/>
          </a:xfrm>
          <a:prstGeom prst="rect">
            <a:avLst/>
          </a:prstGeom>
          <a:solidFill>
            <a:srgbClr val="805AD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691640" y="7132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Preprocessing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80360" y="6858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08960" y="685800"/>
            <a:ext cx="1188720" cy="365760"/>
          </a:xfrm>
          <a:prstGeom prst="rect">
            <a:avLst/>
          </a:prstGeom>
          <a:solidFill>
            <a:srgbClr val="38B2A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108960" y="7132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TF-IDF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97680" y="6858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26280" y="685800"/>
            <a:ext cx="1188720" cy="36576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526280" y="7132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Encoding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15000" y="6858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0" y="685800"/>
            <a:ext cx="1188720" cy="365760"/>
          </a:xfrm>
          <a:prstGeom prst="rect">
            <a:avLst/>
          </a:prstGeom>
          <a:solidFill>
            <a:srgbClr val="48BB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943600" y="7132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Train/Test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32320" y="6858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18096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60920" y="685800"/>
            <a:ext cx="118872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360920" y="7132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Models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1188720"/>
            <a:ext cx="2057400" cy="1920240"/>
          </a:xfrm>
          <a:prstGeom prst="rect">
            <a:avLst/>
          </a:prstGeom>
          <a:solidFill>
            <a:srgbClr val="FAF5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65760" y="123444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05AD5"/>
                </a:solidFill>
              </a:rPr>
              <a:t>1. Text Preprocessing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150876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Before: "GREAT product!!"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After: "great product"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✓ Lowercase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✓ Punctuation removal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✓ Stopword filtering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23160" y="1188720"/>
            <a:ext cx="2057400" cy="1920240"/>
          </a:xfrm>
          <a:prstGeom prst="rect">
            <a:avLst/>
          </a:prstGeom>
          <a:solidFill>
            <a:srgbClr val="E6FF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2514600" y="123444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7A7B"/>
                </a:solidFill>
              </a:rPr>
              <a:t>2. TF-IDF Vectorization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14600" y="150876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TF-IDF(t,d) = TF(t,d) × IDF(t)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• max_features = 5,000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• ngrams = (1, 2)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Why bigrams?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Captures "not good"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1188720"/>
            <a:ext cx="2057400" cy="1920240"/>
          </a:xfrm>
          <a:prstGeom prst="rect">
            <a:avLst/>
          </a:prstGeom>
          <a:solidFill>
            <a:srgbClr val="FFFA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663440" y="123444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5621"/>
                </a:solidFill>
              </a:rPr>
              <a:t>3. Label Encoding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63440" y="150876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Nominal: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1★=A, 2★=B, 3★=C...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(No order relationship)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Ordinal: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1★=1, 2★=2, 3★=3...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(Preserves 1&lt;2&lt;3&lt;4&lt;5)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20840" y="1188720"/>
            <a:ext cx="2057400" cy="1920240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6812280" y="123444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6749"/>
                </a:solidFill>
              </a:rPr>
              <a:t>4. Train/Test Split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58000" y="1554480"/>
            <a:ext cx="1371600" cy="365760"/>
          </a:xfrm>
          <a:prstGeom prst="rect">
            <a:avLst/>
          </a:prstGeom>
          <a:solidFill>
            <a:srgbClr val="48BB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858000" y="15819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80%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275320" y="1554480"/>
            <a:ext cx="411480" cy="36576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8275320" y="158191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20%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12280" y="201168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Train: 39,962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Test: 9,991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✓ Stratified sampling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65D"/>
                </a:solidFill>
              </a:rPr>
              <a:t>Learning Algorithms: Models Compared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4114800" cy="502920"/>
          </a:xfrm>
          <a:prstGeom prst="rect">
            <a:avLst/>
          </a:prstGeom>
          <a:solidFill>
            <a:srgbClr val="2C52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NOMINAL APPROACH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Treats ratings as unordered categories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1051560"/>
          </a:xfrm>
          <a:prstGeom prst="rect">
            <a:avLst/>
          </a:prstGeom>
          <a:solidFill>
            <a:srgbClr val="EBF8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282"/>
                </a:solidFill>
              </a:rPr>
              <a:t>Multinomial Naive Bayes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P(class|text) ∝ P(class) × ∏P(word|class)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✓ Fast, works with sparse data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✗ Independence assumption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4114800" cy="1051560"/>
          </a:xfrm>
          <a:prstGeom prst="rect">
            <a:avLst/>
          </a:prstGeom>
          <a:solidFill>
            <a:srgbClr val="EBF8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282"/>
                </a:solidFill>
              </a:rPr>
              <a:t>Logistic Regression (Softmax)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7889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P(class k) = softmax(Wx + b)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✓ Calibrated probabilities, interpretable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✗ All errors penalized equally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731520"/>
            <a:ext cx="4114800" cy="502920"/>
          </a:xfrm>
          <a:prstGeom prst="rect">
            <a:avLst/>
          </a:prstGeom>
          <a:solidFill>
            <a:srgbClr val="38B2A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754880" y="7498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ORDINAL APPROACH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Respects ordering 1 &lt; 2 &lt; 3 &lt; 4 &lt; 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325880"/>
            <a:ext cx="4114800" cy="1051560"/>
          </a:xfrm>
          <a:prstGeom prst="rect">
            <a:avLst/>
          </a:prstGeom>
          <a:solidFill>
            <a:srgbClr val="E6FF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754880" y="1371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7A7B"/>
                </a:solidFill>
              </a:rPr>
              <a:t>Ridge Regression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16459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||Xw - y||² + α||w||²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1920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✓ Penalizes distant errors heavily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✗ Lower exact accuracy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2468880"/>
            <a:ext cx="4114800" cy="1051560"/>
          </a:xfrm>
          <a:prstGeom prst="rect">
            <a:avLst/>
          </a:prstGeom>
          <a:solidFill>
            <a:srgbClr val="E6FF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754880" y="2514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7A7B"/>
                </a:solidFill>
              </a:rPr>
              <a:t>Ordinal Logistic Regression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27889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P(Y ≤ k) = σ(θₖ - Xw)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3063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✓ Learns K-1 thresholds between classes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✗ More complex, slower training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657600"/>
            <a:ext cx="4114800" cy="594360"/>
          </a:xfrm>
          <a:prstGeom prst="rect">
            <a:avLst/>
          </a:prstGeom>
          <a:solidFill>
            <a:srgbClr val="FED7D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57200" y="37033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3030"/>
                </a:solidFill>
              </a:rPr>
              <a:t>NOMINAL VIEW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53030"/>
                </a:solidFill>
              </a:rPr>
              <a:t>1★→5★ error = 4★→5★ error (both just "wrong")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657600"/>
            <a:ext cx="4114800" cy="594360"/>
          </a:xfrm>
          <a:prstGeom prst="rect">
            <a:avLst/>
          </a:prstGeom>
          <a:solidFill>
            <a:srgbClr val="C6F6D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754880" y="37033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76749"/>
                </a:solidFill>
              </a:rPr>
              <a:t>ORDINAL VIEW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76749"/>
                </a:solidFill>
              </a:rPr>
              <a:t>1★→5★ ≫ 4★→5★ (4-class vs 1-class error)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65D"/>
                </a:solidFill>
              </a:rPr>
              <a:t>Results: Model Performance Comparison</a:t>
            </a:r>
            <a:endParaRPr lang="en-US" sz="2200" dirty="0"/>
          </a:p>
        </p:txBody>
      </p:sp>
      <p:pic>
        <p:nvPicPr>
          <p:cNvPr id="3" name="Image 0" descr="/home/claude/fig_8_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85800"/>
            <a:ext cx="5303520" cy="384048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777240"/>
          <a:ext cx="3108960" cy="1463040"/>
        </p:xfrm>
        <a:graphic>
          <a:graphicData uri="http://schemas.openxmlformats.org/drawingml/2006/table">
            <a:tbl>
              <a:tblPr/>
              <a:tblGrid>
                <a:gridCol w="103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Severe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Naive Bayes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63.1%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53E3E"/>
                          </a:solidFill>
                        </a:rPr>
                        <a:t>44.4%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Logistic Reg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66.0%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34.8%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Ridge Reg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50.3%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76749"/>
                          </a:solidFill>
                        </a:rPr>
                        <a:t>18.1%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Ordinal LR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65.9%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34.7%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669280" y="2331720"/>
            <a:ext cx="3108960" cy="777240"/>
          </a:xfrm>
          <a:prstGeom prst="rect">
            <a:avLst/>
          </a:prstGeom>
          <a:solidFill>
            <a:srgbClr val="EBF8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2"/>
          <p:cNvSpPr/>
          <p:nvPr/>
        </p:nvSpPr>
        <p:spPr>
          <a:xfrm>
            <a:off x="5760720" y="23774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282"/>
                </a:solidFill>
              </a:rPr>
              <a:t>📊 Why LR Wins Accuracy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760720" y="26517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Softmax optimizes exact match; benefits from clear vocabulary differences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669280" y="3200400"/>
            <a:ext cx="3108960" cy="777240"/>
          </a:xfrm>
          <a:prstGeom prst="rect">
            <a:avLst/>
          </a:prstGeom>
          <a:solidFill>
            <a:srgbClr val="E6FF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5"/>
          <p:cNvSpPr/>
          <p:nvPr/>
        </p:nvSpPr>
        <p:spPr>
          <a:xfrm>
            <a:off x="5760720" y="32461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7A7B"/>
                </a:solidFill>
              </a:rPr>
              <a:t>📊 Why Ridge Wins Severe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760720" y="35204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Squared error penalizes distant predictions; errors cluster near diagonal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669280" y="4069080"/>
            <a:ext cx="3108960" cy="502920"/>
          </a:xfrm>
          <a:prstGeom prst="rect">
            <a:avLst/>
          </a:prstGeom>
          <a:solidFill>
            <a:srgbClr val="FFFA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5760720" y="41148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5621"/>
                </a:solidFill>
              </a:rPr>
              <a:t>⚠️ Severe Error = predictions ±2+ classes (catastrophic)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KEY FINDING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48% Reduction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in Severe Misclassifications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0" y="2834640"/>
            <a:ext cx="2560320" cy="118872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463040" y="2926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NOMINAL AVERAGE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6304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C8181"/>
                </a:solidFill>
              </a:rPr>
              <a:t>39.6%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463040" y="3657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severe error rate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31089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</a:rPr>
              <a:t>→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5212080" y="2834640"/>
            <a:ext cx="2560320" cy="1188720"/>
          </a:xfrm>
          <a:prstGeom prst="rect">
            <a:avLst/>
          </a:prstGeom>
          <a:solidFill>
            <a:srgbClr val="48BB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303520" y="2926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RIDGE REGRESSION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18.1%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303520" y="3657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severe error rate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71600" y="4206240"/>
            <a:ext cx="6400800" cy="54864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463040" y="425196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Ordinal encoding teaches the model that adjacent ratings are more similar.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When it makes mistakes, they're "close misses" rather than catastrophic errors.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65D"/>
                </a:solidFill>
              </a:rPr>
              <a:t>What We Learned From This Project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4114800" cy="1371600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91440" cy="1371600"/>
          </a:xfrm>
          <a:prstGeom prst="rect">
            <a:avLst/>
          </a:prstGeom>
          <a:solidFill>
            <a:srgbClr val="48BB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6749"/>
                </a:solidFill>
              </a:rPr>
              <a:t>1. Ordinal Structure Matters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Star ratings have inherent order that standard classifiers ignore. Ordinal methods reduce severe errors by 48% — significant for customer-facing applications.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731520"/>
            <a:ext cx="4114800" cy="1371600"/>
          </a:xfrm>
          <a:prstGeom prst="rect">
            <a:avLst/>
          </a:prstGeom>
          <a:solidFill>
            <a:srgbClr val="EBF8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663440" y="731520"/>
            <a:ext cx="91440" cy="1371600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800600" y="77724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282"/>
                </a:solidFill>
              </a:rPr>
              <a:t>2. Accuracy ≠ Best Metric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109728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High accuracy can hide catastrophic errors. Logistic Regression (65.95% acc) still makes 34.83% severe errors. Always evaluate error severity for ordinal tasks.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4114800" cy="1371600"/>
          </a:xfrm>
          <a:prstGeom prst="rect">
            <a:avLst/>
          </a:prstGeom>
          <a:solidFill>
            <a:srgbClr val="FFFAF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91440" cy="1371600"/>
          </a:xfrm>
          <a:prstGeom prst="rect">
            <a:avLst/>
          </a:prstGeom>
          <a:solidFill>
            <a:srgbClr val="ED89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02920" y="224028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5621"/>
                </a:solidFill>
              </a:rPr>
              <a:t>3. Class Imbalance Is Challenging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56032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14.3:1 imbalance severely hurts minority class performance. All models struggle with 2★ and 3★ reviews (F1 &lt; 0.20). Future: SMOTE, cost-sensitive learning.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194560"/>
            <a:ext cx="4114800" cy="1371600"/>
          </a:xfrm>
          <a:prstGeom prst="rect">
            <a:avLst/>
          </a:prstGeom>
          <a:solidFill>
            <a:srgbClr val="E6FF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663440" y="2194560"/>
            <a:ext cx="91440" cy="1371600"/>
          </a:xfrm>
          <a:prstGeom prst="rect">
            <a:avLst/>
          </a:prstGeom>
          <a:solidFill>
            <a:srgbClr val="38B2A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800600" y="224028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7A7B"/>
                </a:solidFill>
              </a:rPr>
              <a:t>4. Trade-offs Require Context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256032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No single best model — choose based on application. Ridge for error tolerance, Logistic for exact classification needs.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749040"/>
            <a:ext cx="8412480" cy="77724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57200" y="379476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Research Question: "Do ordinal methods justify their complexity?"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0" y="3840480"/>
            <a:ext cx="3017520" cy="594360"/>
          </a:xfrm>
          <a:prstGeom prst="rect">
            <a:avLst/>
          </a:prstGeom>
          <a:solidFill>
            <a:srgbClr val="48BB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760720" y="38862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YES — when minimizing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severe errors is priority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645920" y="2377440"/>
            <a:ext cx="1828800" cy="9144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737360" y="2468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49,953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737360" y="2926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Reviews Analyzed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0" y="2377440"/>
            <a:ext cx="1828800" cy="9144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749040" y="2468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749040" y="2926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Models Compared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0" y="2377440"/>
            <a:ext cx="1828800" cy="914400"/>
          </a:xfrm>
          <a:prstGeom prst="rect">
            <a:avLst/>
          </a:prstGeom>
          <a:solidFill>
            <a:srgbClr val="48BB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760720" y="2468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48%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760720" y="2926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Error Reduction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0" y="3566160"/>
            <a:ext cx="1463040" cy="54864"/>
          </a:xfrm>
          <a:prstGeom prst="rect">
            <a:avLst/>
          </a:prstGeom>
          <a:solidFill>
            <a:srgbClr val="38B2A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Atharv Chaudhary · Kien Nguyen · Zijie Liu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1032</Words>
  <Application>Microsoft Office PowerPoint</Application>
  <PresentationFormat>On-screen Show (16:9)</PresentationFormat>
  <Paragraphs>203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Ordinal vs Nominal Sentiment Classification</dc:title>
  <dc:subject>PptxGenJS Presentation</dc:subject>
  <dc:creator>Atharv Chaudhary, Kien Nguyen, Zijie Liu</dc:creator>
  <cp:lastModifiedBy>Atharv Girish Chaudhary</cp:lastModifiedBy>
  <cp:revision>2</cp:revision>
  <dcterms:created xsi:type="dcterms:W3CDTF">2025-12-02T04:30:21Z</dcterms:created>
  <dcterms:modified xsi:type="dcterms:W3CDTF">2025-12-02T05:41:57Z</dcterms:modified>
</cp:coreProperties>
</file>